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9144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Multi-Label Land-Cover Recognition Using Sentinel-2 Multispectral Classification</a:t>
            </a:r>
          </a:p>
          <a:p>
            <a:pPr>
              <a:spcAft>
                <a:spcPts val="2800"/>
              </a:spcAft>
              <a:defRPr sz="1800">
                <a:solidFill>
                  <a:srgbClr val="CBD5E1"/>
                </a:solidFill>
              </a:defRPr>
            </a:pPr>
            <a:r>
              <a:t>Evaluating the Contribution of Visible, NIR, and SWIR Bands on European Satellite Imagery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Author: Undergraduate Student in Applied Geophysics  |  Antigravity IDE Assistant</a:t>
            </a:r>
            <a:br/>
            <a:r>
              <a:t>Dataset: BigEarthNet v2.0 (Sentinel-2 Level-2A BOA Surface Reflectance)</a:t>
            </a:r>
            <a:br/>
            <a:r>
              <a:t>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Background &amp; Motivation: The Mixed Landscape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4B7C"/>
                </a:solidFill>
              </a:defRPr>
            </a:pPr>
            <a:r>
              <a:t>The Single-Label Classification Dilemma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Landscapes are inherently mixed:</a:t>
            </a:r>
            <a:r>
              <a:rPr sz="1300">
                <a:solidFill>
                  <a:srgbClr val="1E293B"/>
                </a:solidFill>
              </a:rPr>
              <a:t> A single 1.2 km × 1.2 km satellite patch contains pastures bordering woodlots, rivers cutting through fields, and village houses.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Single-label forces artificial exclusivity:</a:t>
            </a:r>
            <a:r>
              <a:rPr sz="1300">
                <a:solidFill>
                  <a:srgbClr val="1E293B"/>
                </a:solidFill>
              </a:rPr>
              <a:t> Assigning only 'Forest' completely discards secondary classes like pastures or streams.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Boundary noise &amp; ambiguity:</a:t>
            </a:r>
            <a:r>
              <a:rPr sz="1300">
                <a:solidFill>
                  <a:srgbClr val="1E293B"/>
                </a:solidFill>
              </a:rPr>
              <a:t> Ecotones and mixed pixels create severe labeling conflict in conventional remote sensing.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A7F78"/>
                </a:solidFill>
              </a:defRPr>
            </a:pPr>
            <a:r>
              <a:t>The Multi-Label Paradigm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Independent Bernoulli Formulation:</a:t>
            </a:r>
            <a:r>
              <a:rPr sz="1300">
                <a:solidFill>
                  <a:srgbClr val="1E293B"/>
                </a:solidFill>
              </a:rPr>
              <a:t> Each class is treated independently: y = [y₁, y₂, ..., y₇] where yₖ ∈ {0, 1}.</a:t>
            </a:r>
          </a:p>
          <a:p>
            <a:pPr>
              <a:spcAft>
                <a:spcPts val="1200"/>
              </a:spcAft>
            </a:pPr>
            <a:r>
              <a:t>• 94.4% Empirical Multi-Label Prevalence: 472 of 500 patches in our dataset contain multiple simultaneous land covers!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293B"/>
                </a:solidFill>
              </a:rPr>
              <a:t>• Realistic Ecological Mapping:</a:t>
            </a:r>
            <a:r>
              <a:rPr sz="1300">
                <a:solidFill>
                  <a:srgbClr val="1E293B"/>
                </a:solidFill>
              </a:rPr>
              <a:t> Accurately detects co-occurring agricultural parcels, woodlands, and built infrastructure without mutual exclusion.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Research Questions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4B7C"/>
                </a:solidFill>
              </a:defRPr>
            </a:pPr>
            <a:r>
              <a:t>Central Research Question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Can multispectral Sentinel-2 observations (Visible, NIR, SWIR) accurately resolve multiple co-occurring surface types, and how does expanding spectral dimensionality affect multi-label classification accuracy on small curated datasets?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A7F78"/>
                </a:solidFill>
              </a:defRPr>
            </a:pPr>
            <a:r>
              <a:t>Controlled Band Ablation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Systematically compare 3 spectral configurations under identical architectures and splits:</a:t>
            </a:r>
            <a:br/>
            <a:r>
              <a:t>  • M1 (Visible RGB): Bands B02, B03, B04 (3 ch)</a:t>
            </a:r>
            <a:br/>
            <a:r>
              <a:t>  • M2 (Visible + NIR): Bands B02, B03, B04, B08 (4 ch)</a:t>
            </a:r>
            <a:br/>
            <a:r>
              <a:t>  • M3 (Full Multispectral): B02, B03, B04, B08, B11, B12 (6 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97706"/>
                </a:solidFill>
              </a:defRPr>
            </a:pPr>
            <a:r>
              <a:t>Evaluation &amp; Minority Diagnostics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Measure Macro-F1, Micro-F1, and Exact Match subset accuracy. Specifically assess the behavior of minority classes (Wetland, Shrub) and evaluate decision threshold calibration without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Sentinel-2 Spectral Bands &amp; BigEarthNet v2.0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Diagnostic Spectral Bands Used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B02 (Blue - 490 nm, 10m):</a:t>
            </a:r>
            <a:r>
              <a:rPr sz="1100">
                <a:solidFill>
                  <a:srgbClr val="1E293B"/>
                </a:solidFill>
              </a:rPr>
              <a:t> Sensitive to atmospheric haze and water clarity.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B03 (Green - 560 nm, 10m):</a:t>
            </a:r>
            <a:r>
              <a:rPr sz="1100">
                <a:solidFill>
                  <a:srgbClr val="1E293B"/>
                </a:solidFill>
              </a:rPr>
              <a:t> Captures green chlorophyll peak and vegetation vigor.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B04 (Red - 665 nm, 10m):</a:t>
            </a:r>
            <a:r>
              <a:rPr sz="1100">
                <a:solidFill>
                  <a:srgbClr val="1E293B"/>
                </a:solidFill>
              </a:rPr>
              <a:t> Maximum chlorophyll-a absorption; defines red edge.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B08 (NIR - 842 nm, 10m):</a:t>
            </a:r>
            <a:r>
              <a:rPr sz="1100">
                <a:solidFill>
                  <a:srgbClr val="1E293B"/>
                </a:solidFill>
              </a:rPr>
              <a:t> Internal spongy mesophyll leaf scattering; total absorption by open water.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B11 (SWIR-1 - 1610 nm, 20m):</a:t>
            </a:r>
            <a:r>
              <a:rPr sz="1100">
                <a:solidFill>
                  <a:srgbClr val="1E293B"/>
                </a:solidFill>
              </a:rPr>
              <a:t> Foliar water content, soil moisture, and impervious built-up.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B12 (SWIR-2 - 2190 nm, 20m):</a:t>
            </a:r>
            <a:r>
              <a:rPr sz="1100">
                <a:solidFill>
                  <a:srgbClr val="1E293B"/>
                </a:solidFill>
              </a:rPr>
              <a:t> Mineral background, dry biomass, and bare soil.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7F78"/>
                </a:solidFill>
              </a:defRPr>
            </a:pPr>
            <a:r>
              <a:t>Dataset Geography &amp; Partitions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Provenance:</a:t>
            </a:r>
            <a:r>
              <a:rPr sz="1100">
                <a:solidFill>
                  <a:srgbClr val="1E293B"/>
                </a:solidFill>
              </a:rPr>
              <a:t> BigEarthNet v2.0 (reBEN), Sentinel-2 Level-2A (Sen2Cor atmospheric correction).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Geographic Origin:</a:t>
            </a:r>
            <a:r>
              <a:rPr sz="1100">
                <a:solidFill>
                  <a:srgbClr val="1E293B"/>
                </a:solidFill>
              </a:rPr>
              <a:t> Tile T33UUP in Austrian Central Alps (UTM Zone 33N).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Dataset Size:</a:t>
            </a:r>
            <a:r>
              <a:rPr sz="1100">
                <a:solidFill>
                  <a:srgbClr val="1E293B"/>
                </a:solidFill>
              </a:rPr>
              <a:t> 500 genuine patches (1.2 km × 1.2 km, 120×120 pixels).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Official Splits:</a:t>
            </a:r>
            <a:r>
              <a:rPr sz="1100">
                <a:solidFill>
                  <a:srgbClr val="1E293B"/>
                </a:solidFill>
              </a:rPr>
              <a:t> 300 Train (60%), 100 Validation (20%), 100 Test (20%).</a:t>
            </a:r>
          </a:p>
          <a:p>
            <a:pPr>
              <a:spcAft>
                <a:spcPts val="600"/>
              </a:spcAft>
            </a:pPr>
            <a:r>
              <a:t>• Patch-Level Disjointness: Strictly disjoint partitions; 0 duplicate patch IDs.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Inspection Patches:</a:t>
            </a:r>
            <a:r>
              <a:rPr sz="1100">
                <a:solidFill>
                  <a:srgbClr val="1E293B"/>
                </a:solidFill>
              </a:rPr>
              <a:t> All 5 Phase 1 inspection patches preserved strictly in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Reflectance Preprocessing &amp; Multispectral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Harmonization Pipeline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Bilinear Resampling:</a:t>
            </a:r>
            <a:r>
              <a:rPr sz="1100">
                <a:solidFill>
                  <a:srgbClr val="1E293B"/>
                </a:solidFill>
              </a:rPr>
              <a:t> Resampled 20m bands (B11, B12) from 60×60 to 120×120 to align with 10m bands without blocky artifacts.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Surface Reflectance Scaling:</a:t>
            </a:r>
            <a:r>
              <a:rPr sz="1100">
                <a:solidFill>
                  <a:srgbClr val="1E293B"/>
                </a:solidFill>
              </a:rPr>
              <a:t> ρ = clip(DN / 10000.0, 0.0, 1.0) maps raw DN to physical BOA reflectance [0, 1].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Specular Glint Handling:</a:t>
            </a:r>
            <a:r>
              <a:rPr sz="1100">
                <a:solidFill>
                  <a:srgbClr val="1E293B"/>
                </a:solidFill>
              </a:rPr>
              <a:t> Rare reflections &gt; 10,000 DN (&lt;0.0042% of pixels) cleanly bounded without distorting dynamic range.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True Colour vs False Colour:</a:t>
            </a:r>
            <a:r>
              <a:rPr sz="1100">
                <a:solidFill>
                  <a:srgbClr val="1E293B"/>
                </a:solidFill>
              </a:rPr>
              <a:t> CIR (B8-B4-B3) renders dense biomass in vibrant red, while open water absorbs NIR and appears jet black.</a:t>
            </a:r>
          </a:p>
        </p:txBody>
      </p:sp>
      <p:pic>
        <p:nvPicPr>
          <p:cNvPr id="5" name="Picture 4" descr="phase2_1_true_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3108960" cy="3484869"/>
          </a:xfrm>
          <a:prstGeom prst="rect">
            <a:avLst/>
          </a:prstGeom>
        </p:spPr>
      </p:pic>
      <p:pic>
        <p:nvPicPr>
          <p:cNvPr id="6" name="Picture 5" descr="phase2_1_false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0"/>
            <a:ext cx="3108960" cy="34848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Seven Target Classes &amp; Label Distribution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  <a:gridCol w="2286000"/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 Class Name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Train (N=300)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 (N=100)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(N=100)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 Prevalence</a:t>
                      </a:r>
                    </a:p>
                  </a:txBody>
                  <a:tcPr>
                    <a:solidFill>
                      <a:srgbClr val="1E4B7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258 (86.0%)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84 (84.0%)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95 (95.0%)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437 (87.4%) - Dominant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142 (47.3%)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74 (74.0%)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 (52.0%)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268 (53.6%) - Widespread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Grassland / Pasture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209 (69.7%)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 (75.0%)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39 (39.0%)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323 (64.6%) - Alpine meadows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Built-up / Artificial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130 (43.3%)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58 (58.0%)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31 (31.0%)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219 (43.8%) - Settlements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Water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41 (13.7%)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28 (28.0%)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 (21.0%)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 (18.0%) - Lakes &amp; rivers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Wetland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8 (2.7%) [RARE]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16 (16.0%)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27 (27.0%)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51 (10.2%) - Severe imbalance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Shrub / Transitional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59 (19.7%)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 (13.0%)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42 (42.0%)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114 (22.8%) - Clear-cuts/scrub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CNN Architecture &amp; Multi-Label Training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MultispectralCNN Architecture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Input Flexibility:</a:t>
            </a:r>
            <a:r>
              <a:rPr sz="1100">
                <a:solidFill>
                  <a:srgbClr val="1E293B"/>
                </a:solidFill>
              </a:rPr>
              <a:t> Dynamically accepts C ∈ {3, 4, 6} channels at 120×120 resolution.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4 Convolutional Blocks:</a:t>
            </a:r>
            <a:r>
              <a:rPr sz="1100">
                <a:solidFill>
                  <a:srgbClr val="1E293B"/>
                </a:solidFill>
              </a:rPr>
              <a:t> [32, 64, 128, 256 filters] with Batch Normalization, ReLU, and Max Pooling (120→60→30→15→7).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Spatial Pooling &amp; Dropout:</a:t>
            </a:r>
            <a:r>
              <a:rPr sz="1100">
                <a:solidFill>
                  <a:srgbClr val="1E293B"/>
                </a:solidFill>
              </a:rPr>
              <a:t> AdaptiveAvgPool2d(1, 1) + dual dropout (p=0.4, 0.3) to prevent overfitting on 300 patches.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Parameter Count:</a:t>
            </a:r>
            <a:r>
              <a:rPr sz="1100">
                <a:solidFill>
                  <a:srgbClr val="1E293B"/>
                </a:solidFill>
              </a:rPr>
              <a:t> Lightweight model (~617k parameters), ideal for small remote sensing datasets.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Independent Logits:</a:t>
            </a:r>
            <a:r>
              <a:rPr sz="1100">
                <a:solidFill>
                  <a:srgbClr val="1E293B"/>
                </a:solidFill>
              </a:rPr>
              <a:t> Outputs 7 raw unbounded logits, mapped via Sigmoid to [0, 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7F78"/>
                </a:solidFill>
              </a:defRPr>
            </a:pPr>
            <a:r>
              <a:t>Training Protocol &amp; Validation Calibration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Loss Function:</a:t>
            </a:r>
            <a:r>
              <a:rPr sz="1100">
                <a:solidFill>
                  <a:srgbClr val="1E293B"/>
                </a:solidFill>
              </a:rPr>
              <a:t> BCEWithLogitsLoss evaluates 7 independent binary cross-entropy losses simultaneously.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Optimizer &amp; LR Schedule:</a:t>
            </a:r>
            <a:r>
              <a:rPr sz="1100">
                <a:solidFill>
                  <a:srgbClr val="1E293B"/>
                </a:solidFill>
              </a:rPr>
              <a:t> AdamW (lr=1e-3, weight_decay=1e-4) with CosineAnnealingLR (T_max=35).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Validation Early Stopping:</a:t>
            </a:r>
            <a:r>
              <a:rPr sz="1100">
                <a:solidFill>
                  <a:srgbClr val="1E293B"/>
                </a:solidFill>
              </a:rPr>
              <a:t> Monitored validation loss with patience of 8 epochs (saved best weights).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Threshold Calibration:</a:t>
            </a:r>
            <a:r>
              <a:rPr sz="1100">
                <a:solidFill>
                  <a:srgbClr val="1E293B"/>
                </a:solidFill>
              </a:rPr>
              <a:t> Tuned per-class thresholds over [0.2, 0.8] strictly on validation data.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Zero Test Leakage:</a:t>
            </a:r>
            <a:r>
              <a:rPr sz="1100">
                <a:solidFill>
                  <a:srgbClr val="1E293B"/>
                </a:solidFill>
              </a:rPr>
              <a:t> Model weights, normalization, and decision thresholds NEVER touched test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Experimental Results: M1 vs M2 vs M3 Band Ablation</a:t>
            </a:r>
          </a:p>
        </p:txBody>
      </p:sp>
      <p:pic>
        <p:nvPicPr>
          <p:cNvPr id="4" name="Picture 3" descr="phase3_macro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3597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544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Test Evaluation Results (T=0.5)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M1 (Visible RGB):</a:t>
            </a:r>
            <a:r>
              <a:rPr sz="1100">
                <a:solidFill>
                  <a:srgbClr val="1E293B"/>
                </a:solidFill>
              </a:rPr>
              <a:t> Macro-F1 = 0.5978, Micro-F1 = 0.7403, Exact Match = 12.0%. Baseline optical model.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M2 (Visible + NIR):</a:t>
            </a:r>
            <a:r>
              <a:rPr sz="1100">
                <a:solidFill>
                  <a:srgbClr val="1E293B"/>
                </a:solidFill>
              </a:rPr>
              <a:t> Macro-F1 = 0.7110 (+11.32 pp), Micro-F1 = 0.8205 (+8.02 pp), Exact Match = 38.0% (+26 pp). WINNER!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M3 (Multispectral):</a:t>
            </a:r>
            <a:r>
              <a:rPr sz="1100">
                <a:solidFill>
                  <a:srgbClr val="1E293B"/>
                </a:solidFill>
              </a:rPr>
              <a:t> Macro-F1 = 0.5673, Micro-F1 = 0.7081, Exact Match = 5.0%. Underperformed due to dimensionality &amp; overfitting.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Validation-Tuned:</a:t>
            </a:r>
            <a:r>
              <a:rPr sz="1100">
                <a:solidFill>
                  <a:srgbClr val="1E293B"/>
                </a:solidFill>
              </a:rPr>
              <a:t> M1 Tuned = 0.7076, M2 Tuned = 0.7020, M3 Tuned = 0.6559. Calibrating thresholds closed M1's gap by lowering cutoffs on minority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Per-Class Performance, Error Analysis &amp; Wetland Failure</a:t>
            </a:r>
          </a:p>
        </p:txBody>
      </p:sp>
      <p:pic>
        <p:nvPicPr>
          <p:cNvPr id="4" name="Picture 3" descr="phase3_per_class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29331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544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B7C"/>
                </a:solidFill>
              </a:defRPr>
            </a:pPr>
            <a:r>
              <a:t>Key Per-Class Findings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Forest &amp; Agriculture:</a:t>
            </a:r>
            <a:r>
              <a:rPr sz="1100">
                <a:solidFill>
                  <a:srgbClr val="1E293B"/>
                </a:solidFill>
              </a:rPr>
              <a:t> Very stable across all models (Forest F1 &gt; 0.96; Agriculture F1 ~0.77-0.84).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Shrub Breakthrough in M2:</a:t>
            </a:r>
            <a:r>
              <a:rPr sz="1100">
                <a:solidFill>
                  <a:srgbClr val="1E293B"/>
                </a:solidFill>
              </a:rPr>
              <a:t> F1 surged from 0.3529 (M1) to 0.9114 (M2)! NIR mesophyll scattering separates scrub from mature tree canopy.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Water Recognition in M2:</a:t>
            </a:r>
            <a:r>
              <a:rPr sz="1100">
                <a:solidFill>
                  <a:srgbClr val="1E293B"/>
                </a:solidFill>
              </a:rPr>
              <a:t> F1 rose from 0.7429 (M1) to 0.8947 (M2) with 100% precision due to NIR water absorption.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M3 Grassland Over-Prediction:</a:t>
            </a:r>
            <a:r>
              <a:rPr sz="1100">
                <a:solidFill>
                  <a:srgbClr val="1E293B"/>
                </a:solidFill>
              </a:rPr>
              <a:t> M3 produced 57 False Positives on Grassland (precision collapsed to 40%), explaining M3's lower score.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The Wetland Failure (0.0000 F1):</a:t>
            </a:r>
            <a:r>
              <a:rPr sz="1100">
                <a:solidFill>
                  <a:srgbClr val="1E293B"/>
                </a:solidFill>
              </a:rPr>
              <a:t> All 3 models scored 0 TP on Wetland at T=0.5. With only 8 positive training patches (2.7%), unweighted BCE suppressed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F78"/>
                </a:solidFill>
              </a:defRPr>
            </a:pPr>
            <a:r>
              <a:t>APPLIED REMOTE SENSING | FINAL PROJECT</a:t>
            </a:r>
          </a:p>
          <a:p>
            <a:pPr>
              <a:defRPr sz="2200" b="1">
                <a:solidFill>
                  <a:srgbClr val="1E4B7C"/>
                </a:solidFill>
              </a:defRPr>
            </a:pPr>
            <a:r>
              <a:t>Conclusions, Limitations &amp; Future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4B7C"/>
                </a:solidFill>
              </a:defRPr>
            </a:pPr>
            <a:r>
              <a:t>Key Scientific Conclusions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Multi-label recognition is vital: 94.4% of patches in our dataset have multiple classes (mean: 3.00).</a:t>
            </a:r>
            <a:br/>
            <a:br/>
            <a:r>
              <a:t>• NIR is the most valuable spectral addition: M2 (Visible+NIR) gained +11.32 pp Macro-F1 and tripled Exact Match (38%).</a:t>
            </a:r>
            <a:br/>
            <a:br/>
            <a:r>
              <a:t>• SWIR overfit on small samples: 6 channels without pre-training increased variance and degraded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97706"/>
                </a:solidFill>
              </a:defRPr>
            </a:pPr>
            <a:r>
              <a:t>Project Limitations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Single-Tile Scope: All 500 patches originate from Tile T33UUP in the Austrian Alps. Findings do not generalize globally.</a:t>
            </a:r>
            <a:br/>
            <a:br/>
            <a:r>
              <a:t>• Severe Minority Imbalance: Wetland had only 8 training examples, causing zero-recall.</a:t>
            </a:r>
            <a:br/>
            <a:br/>
            <a:r>
              <a:t>• 20m Spatial Interpolation: SWIR bands were bilinearly resampled, lacking native 10m high-frequency detail.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A7F78"/>
                </a:solidFill>
              </a:defRPr>
            </a:pPr>
            <a:r>
              <a:t>Future Research Directions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Positive-Class Weighting / Focal Loss: Compensate for minority classes like Wetland.</a:t>
            </a:r>
            <a:br/>
            <a:br/>
            <a:r>
              <a:t>• Transfer Learning: Pre-train on the full continental BigEarthNet archive before fine-tuning.</a:t>
            </a:r>
            <a:br/>
            <a:br/>
            <a:r>
              <a:t>• Geographic Expansion: Evaluate generalization across Mediterranean, Scandinavian, and arid biomes.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